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71" r:id="rId14"/>
    <p:sldId id="268" r:id="rId15"/>
    <p:sldId id="269" r:id="rId16"/>
    <p:sldId id="272" r:id="rId17"/>
    <p:sldId id="270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106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매직쇼 표지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[이미지] Sunny 프로필 사진 + AI와의 여정 개요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[이미지] 산수화 스타일. 산은 산이고 물은 물인 동양 철학적 이미지.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[이미지] 주사위 굴리는 AI 로봇 vs 정확한 계산기.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실시간으로 AI와 스무고개 문답 진행. 청중 참여 유도.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실제 5단계 진행 화면 보여주기. Sunny 제공 이미지 활용.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실제 버그 수정에 5회 반복 기법 적용.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실시간으로 아바타 챗봇 만들기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PoliticianFinder 실제 평가 프로세스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실제 resume, status 커맨드 실행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실제 듀얼 모드로 작업하는 화면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Claude Code에서 다른 AI CLI 실행 시연. 음성 입력(Win+H) 팁 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원격 접속으로 Claude Code 작업하는 실제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모바일에서 Claude Code 지휘하는 실제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서브에이전트를 투입하여 전문 작업 수행.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스킬 투입하여 자동화 작업 수행.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실시간으로 PPT 또는 문서 만들기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PDF 자동 생성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이미지 생성 프로세스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Review &amp; Evaluate 스킬 실행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뉴스 스크랩 전체 프로세스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유튜브 콘텐츠 제작 프로세스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30명+ 소대편제 작업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SAL Grid 방법론 적용 대형 프로젝트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비용 최적화 실제 화면. 모델별 비용 비교표.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6" Type="http://schemas.openxmlformats.org/officeDocument/2006/relationships/hyperlink" Target="https://sales-system-psi.vercel.app/" TargetMode="External"/><Relationship Id="rId7" Type="http://schemas.openxmlformats.org/officeDocument/2006/relationships/hyperlink" Target="https://sunwoongkyu.github.io/SUNNY_ECOSYSTEM/service-hub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salworks.ai.kr/" TargetMode="External"/><Relationship Id="rId5" Type="http://schemas.openxmlformats.org/officeDocument/2006/relationships/hyperlink" Target="https://www.politicianfinder.ai.kr/" TargetMode="External"/><Relationship Id="rId6" Type="http://schemas.openxmlformats.org/officeDocument/2006/relationships/hyperlink" Target="https://sunwoongkyu.github.io/ValueLink/" TargetMode="External"/><Relationship Id="rId7" Type="http://schemas.openxmlformats.org/officeDocument/2006/relationships/hyperlink" Target="https://mychatbot.world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ychatbot.world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5" Type="http://schemas.openxmlformats.org/officeDocument/2006/relationships/hyperlink" Target="https://sunwoongkyu.github.io/AI_MagicShow/cpc_flow_diagram.svg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unwoongkyu.github.io/AI_MagicShow/skills_overview.svg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unwoongkyu.github.io/AI_MagicShow/platoon_formation_v3.svg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salworks.ai.kr/S0_Project-SAL-Grid_%EC%83%9D%EC%84%B1/viewer/viewer_database.html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Magic Show</a:t>
            </a:r>
            <a:endParaRPr lang="en-US" sz="5200" dirty="0"/>
          </a:p>
        </p:txBody>
      </p:sp>
      <p:sp>
        <p:nvSpPr>
          <p:cNvPr id="4" name="Shape 1"/>
          <p:cNvSpPr/>
          <p:nvPr/>
        </p:nvSpPr>
        <p:spPr>
          <a:xfrm>
            <a:off x="2743200" y="3200400"/>
            <a:ext cx="365760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2026. 02. 20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Sunny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 Contents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7200" y="868680"/>
            <a:ext cx="73152" cy="54864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1520" y="868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20240" y="868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프롤로그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89120" y="868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마스터 Sunny 및 AI와의 여정 소개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527048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57200" y="1527048"/>
            <a:ext cx="73152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15270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920240" y="15270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89120" y="15270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Sunny의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철학 10선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185416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2185416"/>
            <a:ext cx="73152" cy="54864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31520" y="218541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920240" y="21854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Show 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89120" y="21854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Magic 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10가지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2843784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57200" y="2843784"/>
            <a:ext cx="73152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731520" y="284378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920240" y="28437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Show B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389120" y="28437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 Core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Package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시연 10가지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502152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57200" y="3502152"/>
            <a:ext cx="73152" cy="54864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731520" y="350215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920240" y="35021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 Tips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실용적인</a:t>
            </a:r>
            <a:r>
              <a:rPr lang="en-US" altLang="ko-K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팁 10가지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457200" y="4160520"/>
            <a:ext cx="73152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3152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6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92024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에필로그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389120" y="4160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/ 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프롤로그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마스터 Sunny 및 AI와의 여정을 소개합니다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Master "Sunny"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3840480" cy="37490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0" y="960120"/>
            <a:ext cx="1828800" cy="1828800"/>
          </a:xfrm>
          <a:prstGeom prst="ellipse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9778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Sunny (선웅규)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48640" y="3483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공인회계사 (CPA)  20년+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3858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스타트업 액셀러레이터  10년+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4172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Master  9개월+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89120" y="868680"/>
            <a:ext cx="4389120" cy="37490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457200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AI와의 여정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4572000" y="1463040"/>
            <a:ext cx="3840480" cy="27432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663440" y="1737360"/>
            <a:ext cx="274320" cy="27432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51206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2025.05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922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AI를 만나다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9224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Claude Code와의 첫 만남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54880" y="2011680"/>
            <a:ext cx="54864" cy="457200"/>
          </a:xfrm>
          <a:prstGeom prst="rect">
            <a:avLst/>
          </a:prstGeom>
          <a:solidFill>
            <a:srgbClr val="3344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663440" y="2514600"/>
            <a:ext cx="274320" cy="27432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512064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3,500시간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92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9개월 × 하루 12시간+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49224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활용능력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키우기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집중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754880" y="2788920"/>
            <a:ext cx="54864" cy="457200"/>
          </a:xfrm>
          <a:prstGeom prst="rect">
            <a:avLst/>
          </a:prstGeom>
          <a:solidFill>
            <a:srgbClr val="3344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4663440" y="3291840"/>
            <a:ext cx="274320" cy="274320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5120640" y="3246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2026.02~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49224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Master로서 활동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49224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서비스 수익 창출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시니어 대상 코칭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3,500시간의 성과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59" y="868680"/>
            <a:ext cx="3566159" cy="121615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32861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Claude &amp; Claude Code 책 집필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287248"/>
            <a:ext cx="3186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2025.09 PDF 제작 → 판매 사이트 구축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582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🔗 sales-system-psi.vercel.app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868680"/>
            <a:ext cx="4180014" cy="2071116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946256" y="960120"/>
            <a:ext cx="287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특허출원 3건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88973" y="1280160"/>
            <a:ext cx="2872032" cy="156936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5759" y="2263140"/>
            <a:ext cx="3566158" cy="269748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548639" y="23545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50개+ 사업 기획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39" y="2688796"/>
            <a:ext cx="3383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🔗 SUNNY ECOSYSTEM Service Hub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39" y="3118347"/>
            <a:ext cx="3101872" cy="45719"/>
          </a:xfrm>
          <a:prstGeom prst="rect">
            <a:avLst/>
          </a:prstGeom>
          <a:solidFill>
            <a:srgbClr val="3344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548639" y="3468155"/>
            <a:ext cx="2875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ko-KR" altLang="en-US" sz="13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활용 </a:t>
            </a:r>
            <a:r>
              <a:rPr lang="en-US" sz="1300" b="1" dirty="0" err="1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회계감사</a:t>
            </a:r>
            <a:r>
              <a:rPr lang="en-US" sz="13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수행</a:t>
            </a:r>
            <a:endParaRPr lang="en-US" sz="1300" b="1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48639" y="4082706"/>
            <a:ext cx="22087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AI 법률 문서 작성 및 자문</a:t>
            </a:r>
            <a:endParaRPr lang="en-US" sz="1300" b="1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297679" y="3022092"/>
            <a:ext cx="4180015" cy="193852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946256" y="3090672"/>
            <a:ext cx="31413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현재 3명 코칭 중</a:t>
            </a:r>
            <a:endParaRPr lang="en-US" sz="13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88973" y="3522921"/>
            <a:ext cx="2786972" cy="1437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풀스택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웹사이트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4개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제작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274319" y="868680"/>
            <a:ext cx="2083285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274319" y="868680"/>
            <a:ext cx="2083285" cy="7315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65759" y="1188720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59" y="2047120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활용한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</a:p>
          <a:p>
            <a:pPr marL="0" indent="0" algn="ctr">
              <a:buNone/>
            </a:pP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Grid 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59" y="3108960"/>
            <a:ext cx="1845195" cy="457200"/>
          </a:xfrm>
          <a:prstGeom prst="rect">
            <a:avLst/>
          </a:prstGeom>
          <a:solidFill>
            <a:srgbClr val="1A3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20040" y="3154680"/>
            <a:ext cx="19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🔗 ssalworks.ai.kr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455251" y="868680"/>
            <a:ext cx="2083285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455251" y="868680"/>
            <a:ext cx="2083285" cy="73152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2546691" y="1188720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Politician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546691" y="2040032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기반의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정치인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</a:t>
            </a:r>
            <a:endParaRPr lang="en-US" altLang="ko-KR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46691" y="3108960"/>
            <a:ext cx="1845195" cy="457200"/>
          </a:xfrm>
          <a:prstGeom prst="rect">
            <a:avLst/>
          </a:prstGeom>
          <a:solidFill>
            <a:srgbClr val="1A3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2500972" y="3154680"/>
            <a:ext cx="19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🔗 politicianfinder.ai.kr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9123" y="868680"/>
            <a:ext cx="2083285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629123" y="868680"/>
            <a:ext cx="2083285" cy="7315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720563" y="1188720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ValueLine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20563" y="2032944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활용한 </a:t>
            </a:r>
            <a:endParaRPr lang="en-US" altLang="ko-KR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기업가치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20563" y="3108960"/>
            <a:ext cx="1845195" cy="457200"/>
          </a:xfrm>
          <a:prstGeom prst="rect">
            <a:avLst/>
          </a:prstGeom>
          <a:solidFill>
            <a:srgbClr val="1A3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674844" y="3154680"/>
            <a:ext cx="19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🔗 sunwoongkyu.github.io/ValueLink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10062" y="868680"/>
            <a:ext cx="2083285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810062" y="868680"/>
            <a:ext cx="2083285" cy="73152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6901502" y="1188720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MyChatbot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World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901502" y="2032944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</a:t>
            </a: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라이프사이클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901502" y="3108960"/>
            <a:ext cx="1845195" cy="457200"/>
          </a:xfrm>
          <a:prstGeom prst="rect">
            <a:avLst/>
          </a:prstGeom>
          <a:solidFill>
            <a:srgbClr val="1A3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855783" y="3154680"/>
            <a:ext cx="19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🔗 mychatbot.world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Sunny의 AI 철학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Sunny의 AI 철학 10선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777240"/>
            <a:ext cx="9144000" cy="155448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2743200"/>
            <a:ext cx="9144000" cy="109728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 1 |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본질</a:t>
            </a:r>
            <a:endParaRPr lang="en-US" sz="1400" b="1" dirty="0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나는 AI를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믿지도 않고 안믿지도 않는다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AI는 그저 AI다!!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743200" y="2926080"/>
            <a:ext cx="365760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산은 산이고 물은 물인 것처럼...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|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AI는 모방(模倣)의 도사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제일 잘하는 건 베끼기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2560320"/>
            <a:ext cx="457200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모방의 도사를 잘 부리는 사람은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창조의 도사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해야 할 일은 창조하기</a:t>
            </a:r>
            <a:endParaRPr lang="en-US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chemeClr val="bg1"/>
                </a:solidFill>
                <a:ea typeface="Arial Black" pitchFamily="34" charset="-122"/>
                <a:cs typeface="Arial Black" pitchFamily="34" charset="-120"/>
              </a:rPr>
              <a:t>철학</a:t>
            </a:r>
            <a:r>
              <a:rPr lang="en-US" sz="1400" b="1" dirty="0">
                <a:solidFill>
                  <a:schemeClr val="bg1"/>
                </a:solidFill>
                <a:ea typeface="Arial Black" pitchFamily="34" charset="-122"/>
                <a:cs typeface="Arial Black" pitchFamily="34" charset="-120"/>
              </a:rPr>
              <a:t> 3 | </a:t>
            </a:r>
            <a:r>
              <a:rPr lang="ko-KR" altLang="en-US" sz="1400" b="1" dirty="0">
                <a:solidFill>
                  <a:schemeClr val="bg1"/>
                </a:solidFill>
                <a:ea typeface="Arial Black" pitchFamily="34" charset="-122"/>
                <a:cs typeface="Arial Black" pitchFamily="34" charset="-120"/>
              </a:rPr>
              <a:t>본질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51584" y="882856"/>
            <a:ext cx="3931920" cy="3657600"/>
          </a:xfrm>
          <a:prstGeom prst="rect">
            <a:avLst/>
          </a:prstGeom>
          <a:solidFill>
            <a:srgbClr val="3D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48640" y="110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≠ </a:t>
            </a:r>
            <a:r>
              <a:rPr lang="en-US" sz="2000" b="1" dirty="0" err="1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프로그램</a:t>
            </a:r>
            <a:endParaRPr lang="en-US" sz="2000" b="1" dirty="0"/>
          </a:p>
        </p:txBody>
      </p:sp>
      <p:sp>
        <p:nvSpPr>
          <p:cNvPr id="7" name="Text 4"/>
          <p:cNvSpPr/>
          <p:nvPr/>
        </p:nvSpPr>
        <p:spPr>
          <a:xfrm>
            <a:off x="548640" y="1779182"/>
            <a:ext cx="3566160" cy="253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프로그램: 정확하지만 대화 불가 →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답답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확률적이라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부정확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가능!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QnA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반복적 실행을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통해 개선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확률적으로 일하는 존재이고 </a:t>
            </a:r>
            <a:endParaRPr lang="en-US" altLang="ko-KR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틀려도 용서를 받는 특별한 존재</a:t>
            </a:r>
            <a:endParaRPr lang="en-US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63440" y="868680"/>
            <a:ext cx="4023360" cy="3657600"/>
          </a:xfrm>
          <a:prstGeom prst="rect">
            <a:avLst/>
          </a:prstGeom>
          <a:solidFill>
            <a:srgbClr val="1A3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846320" y="1094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사람이 길러야 할 능력</a:t>
            </a:r>
            <a:endParaRPr lang="en-US" sz="2000" b="1" dirty="0"/>
          </a:p>
        </p:txBody>
      </p:sp>
      <p:sp>
        <p:nvSpPr>
          <p:cNvPr id="10" name="Text 7"/>
          <p:cNvSpPr/>
          <p:nvPr/>
        </p:nvSpPr>
        <p:spPr>
          <a:xfrm>
            <a:off x="4846320" y="14630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AI를 잘 부리는 능력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AI 결과를 잘 확인하는 능력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AI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사람이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것처럼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보여도 검증하고 확인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철학 4 | </a:t>
            </a:r>
            <a:r>
              <a:rPr lang="ko-KR" alt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본질</a:t>
            </a: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AI는</a:t>
            </a:r>
            <a:r>
              <a:rPr lang="en-US" sz="2400" b="1" dirty="0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사람</a:t>
            </a:r>
            <a:r>
              <a:rPr lang="en-US" sz="2400" b="1" dirty="0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의 </a:t>
            </a:r>
            <a:r>
              <a:rPr lang="en-US" sz="2400" b="1" dirty="0" err="1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능력을</a:t>
            </a:r>
            <a:r>
              <a:rPr lang="en-US" sz="2400" b="1" dirty="0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증폭시킨다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2377440" cy="10058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+ AI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슈퍼 CPA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1840" y="1737360"/>
            <a:ext cx="2377440" cy="10058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3832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마케터 + AI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832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슈퍼 마케터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43600" y="1737360"/>
            <a:ext cx="2377440" cy="10058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03504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기획자 + AI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3504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슈퍼 기획자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" y="3272705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전문성 × AI = 10배, 100배의 결과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 5 | 태도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09776" y="457199"/>
            <a:ext cx="3324448" cy="46322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 |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태도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0298" y="365759"/>
            <a:ext cx="3376902" cy="45606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876802" y="691293"/>
            <a:ext cx="3931920" cy="41148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5120640" y="548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코딩이</a:t>
            </a:r>
            <a:r>
              <a:rPr lang="en-US" sz="17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아니라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프롬프팅을 하고 있다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120640" y="15544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포크레인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나왔는데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여전히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삽질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트랙터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나왔는데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여전히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낫질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코딩하는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시대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프롬프팅을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통한 개발을 한다</a:t>
            </a:r>
            <a:endParaRPr lang="en-US" altLang="ko-KR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기획서,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지침서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템플릿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</a:t>
            </a:r>
            <a:r>
              <a:rPr lang="en-US" altLang="ko-K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방법론 등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하자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120640" y="40035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300" b="1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개발관리방법론</a:t>
            </a: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없이</a:t>
            </a: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바이브코딩은</a:t>
            </a: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미친 짓!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 | 태도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모든 일을 AI와 함께 하는 것을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기본이자 표준으로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삼을 수밖에 없다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 | 태도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AI와 씨름에서의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좌절</a:t>
            </a:r>
            <a:r>
              <a:rPr lang="en-US" sz="2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715553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새로운 시작의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출발점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철학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9 | </a:t>
            </a:r>
            <a:r>
              <a:rPr lang="ko-KR" alt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원칙 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</a:t>
            </a: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 개발만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 말고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틈틈이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콘텐츠도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만들어서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안정된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수익을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창출하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2400" b="1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786384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2468880" cy="13716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4008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유튜브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3246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롱폼/숏폼 콘텐츠 제작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28322" y="2720340"/>
            <a:ext cx="2468880" cy="13716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028322" y="28117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블로그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028322" y="32689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| 원칙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Code를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다룰 줄 아는 사람과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그렇지 않은 사람 간의 능력은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10배 이상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차이가 난다고 해도 과언이 아니다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Magic Show A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Magic 시연 10가지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1: 스무고개 문답 브레인스토밍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스무고개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질문-답변으로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구체화하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막연한 아이디어 →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구체적인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계획으로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발전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묻고, 내가 답하고 →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생각이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되고 계획이 만들어진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2: 5단계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나누어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작업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작업을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5단계로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나누어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시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 완료 → 확인/테스트 → 승인 → 다음 단계 진행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"한번에 다 해줘"는 실패의 지름길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체크포인트가 품질을 보장한다</a:t>
            </a:r>
            <a:endParaRPr lang="en-US" sz="1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040382"/>
            <a:ext cx="3285460" cy="177971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3: 5회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반복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디버깅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형식적으로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반복할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때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 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 반복 디버깅을 하도록 지시하기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프롬프트: "신중하게 심각하게 근본 원인을 찾아봐"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"될 때까지 5번 반복해서 검토 → 수정 → 검토 → 수정"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 하고 나서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나한테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해"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4: 5분만에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나의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챗봇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만들기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World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플랫폼에서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 만에 나만의 AI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아바타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도우미 페르소나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부여 → </a:t>
            </a:r>
            <a:r>
              <a:rPr lang="ko-KR" alt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기본지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 입력 → 완성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누구나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 내에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만들 수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있는 간편함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상담,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홍보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등 다양한 활용</a:t>
            </a:r>
            <a:endParaRPr lang="en-US" sz="1400" dirty="0"/>
          </a:p>
        </p:txBody>
      </p:sp>
      <p:sp>
        <p:nvSpPr>
          <p:cNvPr id="300" name="LinkBox"/>
          <p:cNvSpPr txBox="1"/>
          <p:nvPr/>
        </p:nvSpPr>
        <p:spPr>
          <a:xfrm>
            <a:off x="365760" y="4572000"/>
            <a:ext cx="841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sz="1200" b="1" dirty="0">
                <a:solidFill>
                  <a:srgbClr val="3498DB"/>
                </a:solidFill>
                <a:latin typeface="Calibri" pitchFamily="34" charset="0"/>
                <a:hlinkClick r:id="rId4"/>
              </a:rPr>
              <a:t>🔗 mychatbot.world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5: 정치인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평가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프로세스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진행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활용한 정치인 평가 프로세스 진행하기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V40까지 진화 — 1,000시간 투입, 토큰비용 1천만원+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찐 R&amp;D를 통해 AI 점수 기반 평가 방법론 확립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경력 + AI = 대한민국 최고 수준의 AI 평가 능력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3152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60여개 커뮤니티 기반 플랫폼에 확장 가능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6: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유용한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/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커맨드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(Commands)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활용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/resume 끊어진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세션을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이어서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작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 가능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/status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사용모델 확인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</a:t>
            </a:r>
            <a:r>
              <a:rPr lang="ko-KR" alt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잔여량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자기만의 커맨드를 만들어서 활용하기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7: Claude Code 듀얼 모드 실행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작업에 A, B 두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개의 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동시 투입하는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쌍두마차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작업 시키기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크로스 체킹 — 서로의 결과를 검증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관점에서 문제 해결 → 종합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분담 병렬 진행으로 속도 2배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8: Claude Code로 다른 AI 용병 부리기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ChatGPT(Codex), Gemini, Grok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에게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시키기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에게 묻기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방식(실행 기반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 API </a:t>
            </a:r>
            <a:r>
              <a:rPr lang="en-US" altLang="ko-KR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altLang="ko-KR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왕복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= 실행 → 로그 → 검증 → 재실행 루프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AI 강점 활용: 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Codex=</a:t>
            </a:r>
            <a:r>
              <a:rPr lang="en-US" altLang="ko-KR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리팩터링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만들기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Gemini=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대용량 처리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만들기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Grok=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리서치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3152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Claude가 오케스트레이터, 나머지 AI가 전문 도구 역할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9: 원격 접속을 통한 Claude Code 작업시키기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데스크톱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든 내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에게 </a:t>
            </a:r>
            <a:r>
              <a:rPr lang="ko-KR" alt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작업시키기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카페, 이동 중, 집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밖에서도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장소와 시간의 제약을 벗어나서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연속성 유지</a:t>
            </a:r>
            <a:endParaRPr lang="en-US" sz="1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422FF24-4803-3F8B-D892-595F3A3E6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534" y="2126511"/>
            <a:ext cx="4040372" cy="29319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10: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챗봇으로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Claude Code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지휘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핸드폰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설치된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챗봇을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통해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무전기 사용방식으로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지휘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5497033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핸드폰의 </a:t>
            </a:r>
            <a:r>
              <a:rPr lang="ko-KR" alt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챗봇을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통해서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지시 → Claude Code가 실행 → 결과 보고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3625702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중에도 개발 작업을 멈추지 않는다</a:t>
            </a:r>
            <a:endParaRPr lang="en-US" sz="14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7A602AA-7ACB-6BDE-053C-42B9FE747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82" y="1354304"/>
            <a:ext cx="2135498" cy="3781044"/>
          </a:xfrm>
          <a:prstGeom prst="rect">
            <a:avLst/>
          </a:prstGeom>
        </p:spPr>
      </p:pic>
      <p:sp>
        <p:nvSpPr>
          <p:cNvPr id="300" name="LinkBox"/>
          <p:cNvSpPr txBox="1"/>
          <p:nvPr/>
        </p:nvSpPr>
        <p:spPr>
          <a:xfrm>
            <a:off x="365760" y="4572000"/>
            <a:ext cx="841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sz="1200" b="1" dirty="0">
                <a:solidFill>
                  <a:srgbClr val="3498DB"/>
                </a:solidFill>
                <a:latin typeface="Calibri" pitchFamily="34" charset="0"/>
                <a:hlinkClick r:id="rId5"/>
              </a:rPr>
              <a:t>🔗 CPC 시스템 구조도 보기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Magic Show B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Core Skill Package 시연 10가지</a:t>
            </a:r>
            <a:endParaRPr lang="en-US" sz="1500" dirty="0"/>
          </a:p>
        </p:txBody>
      </p:sp>
      <p:sp>
        <p:nvSpPr>
          <p:cNvPr id="300" name="LinkBox"/>
          <p:cNvSpPr txBox="1"/>
          <p:nvPr/>
        </p:nvSpPr>
        <p:spPr>
          <a:xfrm>
            <a:off x="365760" y="4572000"/>
            <a:ext cx="841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sz="1200" b="1" dirty="0">
                <a:solidFill>
                  <a:srgbClr val="3498DB"/>
                </a:solidFill>
                <a:latin typeface="Calibri" pitchFamily="34" charset="0"/>
                <a:hlinkClick r:id="rId4"/>
              </a:rPr>
              <a:t>🔗 SAL Grid Dev Suite 스킬 관계도 보기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1: 서브에이전트 투입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서브에이전트를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불러와서 특화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작업을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맡기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서브에이전트 목록에서 적합한 에이전트 선택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지시서와 함께 서브에이전트에 투입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서브에이전트가 전문 분야 작업 수행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수신 후 Main Claude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Code가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통합·검증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2: 스킬 투입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 만들어둔 스킬을 찾아와서 현재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작업에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투입하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 라이브러리에서 필요한 스킬 검색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스킬을 현재 프로젝트에 투입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스킬이 정해진 절차대로 작업 수행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확인 및 다음 스킬 투입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3: PPT 등 문서 만들기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전문적인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PPT, 보고서, 기획서 등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유형과 목적 지시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구조·내용·디자인까지 자동 생성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및 수정 지시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문서 파일 출력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4: PDF 만들기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보고서, 인보이스, 가이드 등 다양한 PDF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내용과 레이아웃 지시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PDF 생성 코드 작성·실행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PDF 확인·수정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PDF 파일 다운로드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5: 이미지 만들기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인포그래픽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다이어그램,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일러스트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등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이미지를 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자동 생성하기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목적과 스타일 지시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이미지 생성 프롬프트 작성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생성 AI로 제작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이미지 확인·수정·적용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6: Review &amp; Evaluate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결과물을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자동으로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검토하고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평가하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대상과 평가 기준 설정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체계적으로 검토 수행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점수·피드백·개선점 리포트 생성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사항 반영 후 재검토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7: 뉴스 스크랩 → 저장 → 이메일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수집부터 정리, 저장, 이메일 발송까지 자동화 프로세스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키워드·소스 설정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뉴스 수집·요약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정해진 형식으로 저장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이메일로 자동 발송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8: 유튜브 제작 프로세스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기획부터 대본, 영상 제작, 업로드까지 AI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선정·기획안 작성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대본·스크립트 생성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음성·영상·자막 제작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편집·썸네일·업로드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9: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소대편제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30+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에이전트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작업팀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구성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이상의 AI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군대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소대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 편제로 조직하여 대규모 작업 수행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범위 분석·팀 편성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소대장(메인 AI)이 분대별 임무 할당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분대(서브에이전트)가 병렬 작업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소대장이 결과 통합·품질 검증</a:t>
            </a:r>
            <a:endParaRPr lang="en-US" sz="1300" dirty="0"/>
          </a:p>
        </p:txBody>
      </p:sp>
      <p:sp>
        <p:nvSpPr>
          <p:cNvPr id="300" name="LinkBox"/>
          <p:cNvSpPr txBox="1"/>
          <p:nvPr/>
        </p:nvSpPr>
        <p:spPr>
          <a:xfrm>
            <a:off x="365760" y="4572000"/>
            <a:ext cx="841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sz="1200" b="1" dirty="0">
                <a:solidFill>
                  <a:srgbClr val="3498DB"/>
                </a:solidFill>
                <a:latin typeface="Calibri" pitchFamily="34" charset="0"/>
                <a:hlinkClick r:id="rId4"/>
              </a:rPr>
              <a:t>🔗 소대편제 구조도 보기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10: SAL Grid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개발방법론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적용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Grid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방법론을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하여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및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Grid 방법론 프레임워크 설정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3차원 그리드로 프로젝트 구조화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에이전트별 역할·범위 정의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체계적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·완료</a:t>
            </a:r>
            <a:endParaRPr lang="en-US" sz="1300" dirty="0"/>
          </a:p>
        </p:txBody>
      </p:sp>
      <p:sp>
        <p:nvSpPr>
          <p:cNvPr id="300" name="LinkBox"/>
          <p:cNvSpPr txBox="1"/>
          <p:nvPr/>
        </p:nvSpPr>
        <p:spPr>
          <a:xfrm>
            <a:off x="365760" y="4572000"/>
            <a:ext cx="841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sz="1200" b="1" dirty="0">
                <a:solidFill>
                  <a:srgbClr val="3498DB"/>
                </a:solidFill>
                <a:latin typeface="Calibri" pitchFamily="34" charset="0"/>
                <a:hlinkClick r:id="rId4"/>
              </a:rPr>
              <a:t>🔗 SAL Grid Viewer Database 보기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실용 Tips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실용적인 팁 10가지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1: AI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작업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시킬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때 먼저 하는 것들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바로 실행시키지 </a:t>
            </a:r>
            <a:r>
              <a:rPr lang="en-US" sz="18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마라</a:t>
            </a: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8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</a:t>
            </a: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생각하게</a:t>
            </a: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하라</a:t>
            </a: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1714688"/>
            <a:ext cx="74980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1005840" y="17146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"검토 해봐"  — 현재 상태를 먼저 파악시키기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400488"/>
            <a:ext cx="74980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005840" y="24004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"계획 세워봐"  — 실행 전에 로드맵을 만들게 하기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3086288"/>
            <a:ext cx="74980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005840" y="30862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"방안을 제시해봐"  — 여러 대안을 먼저 보기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38957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실행은 마지막! 검토 → 계획 → 방안 → 그다음 실행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2: Claude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앱</a:t>
            </a:r>
            <a:r>
              <a:rPr lang="en-US" altLang="ko-KR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데스크탑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0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754882" y="834390"/>
            <a:ext cx="3931920" cy="3474720"/>
          </a:xfrm>
          <a:prstGeom prst="rect">
            <a:avLst/>
          </a:prstGeom>
          <a:solidFill>
            <a:srgbClr val="1A30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937762" y="92583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= 현장 기술자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37762" y="142875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실행자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코드 쓰고 파일 만들고 명령 실행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"MCP 연결하라고? 알겠습니다!"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하고 바로 코드 짬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실행 도구(터미널)가 있으니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바로 행동하려 함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834390"/>
            <a:ext cx="4023360" cy="3474720"/>
          </a:xfrm>
          <a:prstGeom prst="rect">
            <a:avLst/>
          </a:prstGeom>
          <a:solidFill>
            <a:srgbClr val="1A3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48640" y="92583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</a:t>
            </a:r>
            <a:r>
              <a:rPr lang="ko-KR" alt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앱</a:t>
            </a:r>
            <a:r>
              <a:rPr lang="en-US" altLang="ko-KR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</a:t>
            </a:r>
            <a:r>
              <a:rPr lang="en-US" sz="1600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데스크탑</a:t>
            </a: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= 컨설턴트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142875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상담자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전체 구조를 보고 "왜?" 되물음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"잠깐, 그거 왜 MCP로 감싸요?"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라고 물음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실행 도구가 없으니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대신 생각을 더 하게 됨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0112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Claude </a:t>
            </a:r>
            <a:r>
              <a:rPr lang="ko-KR" alt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</a:t>
            </a:r>
            <a:r>
              <a:rPr lang="en-US" altLang="ko-KR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3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데스크탑에서</a:t>
            </a: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전략·설계 →  Claude </a:t>
            </a:r>
            <a:r>
              <a:rPr lang="en-US" sz="13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Code에서</a:t>
            </a: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3: Vanilla vs React 비교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84089" y="740664"/>
            <a:ext cx="2870791" cy="434797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4: Orders/Reports JSON 시스템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978408"/>
            <a:ext cx="4297680" cy="29105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51883" y="836676"/>
            <a:ext cx="2908359" cy="36804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5229092" y="978408"/>
            <a:ext cx="26460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AI의 외부 메모리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229092" y="1376172"/>
            <a:ext cx="273115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Order Sheet</a:t>
            </a:r>
            <a:endParaRPr lang="en-US" sz="14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JSON으로 구조화된 작업 요청서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Report</a:t>
            </a:r>
            <a:endParaRPr lang="en-US" sz="14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AI가 결과를 JSON으로 저장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세션 끊어져도 연속 작업 가능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체계적 작업 관리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자동화 연동 용이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"어디까지 했더라...?" 문제 해결!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5: AI의 Multi-Role 작업방식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680" y="704088"/>
            <a:ext cx="2292733" cy="44028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49803" y="786384"/>
            <a:ext cx="4114800" cy="384048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3832683" y="8778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5단계 멀티롤 프로세스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832683" y="1380744"/>
            <a:ext cx="3749040" cy="411480"/>
          </a:xfrm>
          <a:prstGeom prst="rect">
            <a:avLst/>
          </a:prstGeom>
          <a:solidFill>
            <a:srgbClr val="E74C3C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4015563" y="13807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1단계: 기획자 역할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832683" y="1883664"/>
            <a:ext cx="3749040" cy="411480"/>
          </a:xfrm>
          <a:prstGeom prst="rect">
            <a:avLst/>
          </a:prstGeom>
          <a:solidFill>
            <a:srgbClr val="3498DB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4015563" y="188366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2단계: 작성자 역할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832683" y="2386584"/>
            <a:ext cx="3749040" cy="411480"/>
          </a:xfrm>
          <a:prstGeom prst="rect">
            <a:avLst/>
          </a:prstGeom>
          <a:solidFill>
            <a:srgbClr val="2ECC7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4015563" y="23865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3단계: 검토자 역할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832683" y="2889504"/>
            <a:ext cx="3749040" cy="41148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4015563" y="28895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4단계: 비판자 역할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832683" y="3392424"/>
            <a:ext cx="3749040" cy="411480"/>
          </a:xfrm>
          <a:prstGeom prst="rect">
            <a:avLst/>
          </a:prstGeom>
          <a:solidFill>
            <a:srgbClr val="9B59B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4015563" y="33924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5단계: 최종 수정자 역할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832683" y="39867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품질과 일관성이 최우선인 작업에서 진가 발휘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6: AI(Claude Code) 12대 준수사항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0467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804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AI-First: 5가지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시도 후 인간에게 요청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139903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150876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720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13990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거짓 보고 절대 금지: 정확성 &gt; 속도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" y="199339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57200" y="210312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5720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19933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추정 절대 금지: 진행 상황만 보고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58775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57200" y="269748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5720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2960" y="25877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대안 제시: 최소 3개 이상 + 추천 의견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318211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45720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2960" y="31821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검증: 완료 후 반드시 검증 도구 실행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65760" y="377647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57200" y="388620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5720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22960" y="3776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로그 기록: work_logs에 기록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663440" y="80467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4754880" y="91440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4754880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120640" y="804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생성 사전 승인: 승인 후 생성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663440" y="139903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4754880" y="150876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475488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120640" y="13990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생성 사전 승인: 구조 무단 변경 금지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663440" y="199339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4754880" y="210312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475488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120640" y="19933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적극 활용: Skills, Subagents, Commands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663440" y="258775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4754880" y="269748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475488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120640" y="25877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불확실하면 즉시 질문: 추측 금지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663440" y="318211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4754880" y="329184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475488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120640" y="31821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 수립 후 실행: 복잡한 작업은 계획 먼저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663440" y="377647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/>
          <p:cNvSpPr/>
          <p:nvPr/>
        </p:nvSpPr>
        <p:spPr>
          <a:xfrm>
            <a:off x="4754880" y="388620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475488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5120640" y="3776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과잉 금지: 요청받은 것만 정확하게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CLAUDE.md에 반영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7: AI 활용능력의 측정지표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4055364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10515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6304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효과성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74720" y="1051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좋은 서비스를 만드는 능력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011680"/>
            <a:ext cx="7863840" cy="7772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22960" y="20116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46304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효율성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74720" y="2011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빠르고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비용으로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만드는 능력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971800"/>
            <a:ext cx="7863840" cy="7772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29718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463040" y="2971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수익성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474720" y="29718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가치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있는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출시하여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돈을 버는 능력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4023360"/>
            <a:ext cx="786384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48640" y="432447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"그저 뭐 만든다" = "좋은 취미생활 하시네요" 😅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80059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8: API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사용료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최적화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방안 적용으로 비용 </a:t>
            </a:r>
            <a:r>
              <a:rPr lang="en-US" altLang="ko-KR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81%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절감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14624" y="740664"/>
            <a:ext cx="3841897" cy="418338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9: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웹검색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시킬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때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크레딧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폭탄 주의!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2371" y="777240"/>
            <a:ext cx="4250897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10: AI 활용능력 마스터 등급 체계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777240"/>
            <a:ext cx="3391077" cy="4297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078656" y="1090014"/>
            <a:ext cx="3391077" cy="2963471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4107005" y="1406333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Sunny 구상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289885" y="1772093"/>
            <a:ext cx="277722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1~2단: 지식수준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3~4단: 활용경험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5~10단: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창출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수입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2년 이내에</a:t>
            </a:r>
            <a:endParaRPr lang="en-US" sz="16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9단(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억원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이상이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됩시다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b="1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887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1645920"/>
            <a:ext cx="457200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AI는 學보다 習이다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百學不如一習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3657600"/>
            <a:ext cx="457200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Magic Show | 2026. 02. 20 | Sunny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2366</Words>
  <Application>Microsoft Office PowerPoint</Application>
  <PresentationFormat>화면 슬라이드 쇼(16:9)</PresentationFormat>
  <Paragraphs>484</Paragraphs>
  <Slides>52</Slides>
  <Notes>52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6" baseType="lpstr"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Magic Show</dc:title>
  <dc:subject>PptxGenJS Presentation</dc:subject>
  <dc:creator>Sunny</dc:creator>
  <cp:lastModifiedBy>웅규 선</cp:lastModifiedBy>
  <cp:revision>4</cp:revision>
  <dcterms:created xsi:type="dcterms:W3CDTF">2026-02-18T17:32:36Z</dcterms:created>
  <dcterms:modified xsi:type="dcterms:W3CDTF">2026-02-19T15:45:44Z</dcterms:modified>
</cp:coreProperties>
</file>